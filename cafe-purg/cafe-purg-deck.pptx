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ckup-exterior-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548640"/>
            <a:ext cx="4608575" cy="57607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46304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E0B94E"/>
                </a:solidFill>
                <a:latin typeface="Calibri"/>
              </a:rPr>
              <a:t>CAFÉ PURG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Purgatory between 18 and 21.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DCDCDC"/>
                </a:solidFill>
                <a:latin typeface="Calibri"/>
              </a:rPr>
              <a:t>A late-night, zero-proof café and social space in the loft above Once Upon A Time Books — 116 W Central Ave, on the Bentonville square.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E0B94E"/>
                </a:solidFill>
                <a:latin typeface="Calibri"/>
              </a:rPr>
              <a:t>Prepared for Craig — June 2026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BEBEBE"/>
                </a:solidFill>
                <a:latin typeface="Calibri"/>
              </a:rPr>
              <a:t>Every figure verified against primary sources: city code, state rules, county records, supplier pricing. Research files cited throughout.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The idea in three sentences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9728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1A1A2E"/>
                </a:solidFill>
                <a:latin typeface="Calibri"/>
              </a:rPr>
              <a:t>•  Nobody serves 18–21. Too old for curfew, too young for every bar on the square — and after 9pm, nothing else is open.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700" b="0">
                <a:solidFill>
                  <a:srgbClr val="1A1A2E"/>
                </a:solidFill>
                <a:latin typeface="Calibri"/>
              </a:rPr>
              <a:t>•  Café Purg is a late-night activity venue that happens to be alcohol-free: serious coffee, craft zero-proof cocktails, games, study hours, events — open when everything else closes.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1A1A2E"/>
                </a:solidFill>
                <a:latin typeface="Calibri"/>
              </a:rPr>
              <a:t>•  The Owl's Roost loft removes the #1 café killer (lease risk) — a willing family landlord, on the square, in a building already classed commercial.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8B8B"/>
                </a:solidFill>
                <a:latin typeface="Calibri"/>
              </a:rPr>
              <a:t>Why "no alcohol" is the moat, not the compromise: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Arkansas drinking age is 21 — bars cannot serve this crowd without abandoning their license economics. The zero-proof program is the one thing the five licensed venues on this block can't copy.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All figures sourced — see cafe-purg/research/ in the project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VERIFIED VENUE-BY-VENUE ·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After 9pm, the square belongs to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We checked every venue within ~3 blocks: hours, prices, alcohol, under-21 policy.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•  Weeknights after 9pm: every open door on the square serves alcohol as its primary product.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The ONLY all-ages, non-alcohol venue open past 9 any night: the Spark Café soda fountain (weekends, until 10pm).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22222"/>
                </a:solidFill>
                <a:latin typeface="Calibri"/>
              </a:rPr>
              <a:t>•  A 17-year-old's options at 9:30pm on a Saturday: one ice cream counter.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Onyx — the latest-open coffee shop downtown — closes at 8pm daily, at the highest prices in town. The evening daypart supports specialty pricing; nobody stays open for it.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Even First Friday, the marquee all-ages event, ends at 9pm.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6A6A6A"/>
                </a:solidFill>
                <a:latin typeface="Calibri"/>
              </a:rPr>
              <a:t>•  Watch item: the prime ex-Pressroom corner (100 NW 2nd St) is vacant — someone could fill this gap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Source: research/competitive-hours-matrix.md — every venue, hours, and price cited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The customers exist — and they don't drink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US drinking rate (Gallup, Aug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60020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A6A6A"/>
                </a:solidFill>
                <a:latin typeface="Calibri"/>
              </a:rPr>
              <a:t>54% overall — a 90-year low; only 50% of 18–34s drink at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585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US non-alcoholic beverage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58568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A6A6A"/>
                </a:solidFill>
                <a:latin typeface="Calibri"/>
              </a:rPr>
              <a:t>$1B+ in 2025, +27%/yr; mocktails sell at $8–14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16935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New 18-year-olds/yr from Bentonville's 2 high schools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916935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A6A6A"/>
                </a:solidFill>
                <a:latin typeface="Calibri"/>
              </a:rPr>
              <a:t>~1,400 (819 BHS + 595 BWHS seniors, NCES)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75303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NWACC enrollment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575303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A6A6A"/>
                </a:solidFill>
                <a:latin typeface="Calibri"/>
              </a:rPr>
              <a:t>Record 9,017 credit (10,706 total); approved master plan: 30K capacity + ~3,000 housing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33671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Bentonville growth 2020–24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233671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A6A6A"/>
                </a:solidFill>
                <a:latin typeface="Calibri"/>
              </a:rPr>
              <a:t>+14% — fastest-growing city in Arkansas (~62,000)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920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Crystal Bridges 2025 / Walmart HQ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892039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A6A6A"/>
                </a:solidFill>
                <a:latin typeface="Calibri"/>
              </a:rPr>
              <a:t>800K+ visitors; 15,000+ employee campus opened Jan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50407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City event economic impact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550407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A6A6A"/>
                </a:solidFill>
                <a:latin typeface="Calibri"/>
              </a:rPr>
              <a:t>$41M — double the prior record; 90,000+ bike tourists/yr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Sources: research/demand-evidence.md, research/bentonville-market-data.md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STATED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What the comparable venues teach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Standalone "sober bars" fail or pivot routinely — even in LA and NYC. Stay Zero Proof (LA) lasted 8 months; Listen Bar (NYC) never got a permanent home.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The survivors all became ACTIVITY venues: Sans Bar (Austin) runs one night a week at a $15 cover; Hekate (NYC) is café + bottle shop + events.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•  So Café Purg is not an "NA bar." It is games + study hall + events + desserts, with the room itself gently priced (evening cover, study passes).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Per-head engineering: evening target $15–22 (drink + dessert + cover) vs. the $8–10 coffee-only ticket that sinks long-dwell venues.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E8B8B"/>
                </a:solidFill>
                <a:latin typeface="Calibri"/>
              </a:rPr>
              <a:t>•  No demand dataset exists for 18–21 memberships anywhere. The only honest test is pre-selling — so nothing gets built until 75–100 founding members have actually committed.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Source: research/demand-evidence.md — comp-by-comp, failures 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THE PROPERTY — COUNTY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116 W Central Ave: already commercial, already family-held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58368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•  Parcel 01-01059-000 · owner of record: Owls Roast Loft LLC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County classification: Commercial-Improved, downtown commercial (COM-DT) — no county-level reclassification needed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Appraised: $959,425 ($217,580 land + $741,845 improvements); assessed $191,885 (AR 20% ratio)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Property tax ~$11,863/yr at Bentonville's 61.82 mills; +~$1,236/yr per $100K of new improvements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Footprint ≈ 24 × 82 ft (~1,980 sq ft/floor) — comfortably under the ADA elevator exemption's 3,000 sq ft/story threshold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Market rent benchmark: ground-floor downtown $25–36/sq ft; second-floor walk-up typically 40–60% less</a:t>
            </a:r>
          </a:p>
        </p:txBody>
      </p:sp>
      <p:pic>
        <p:nvPicPr>
          <p:cNvPr id="6" name="Picture 5" descr="before-after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517" y="1371599"/>
            <a:ext cx="3397364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Sources: research/property-record-116-w-central.md (AR GIS parcel layer, Feb 2026 CAMA), DFA millage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CONCEPT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Floor plan — 42 seats by design, not by accident</a:t>
            </a:r>
          </a:p>
        </p:txBody>
      </p:sp>
      <p:pic>
        <p:nvPicPr>
          <p:cNvPr id="5" name="Picture 4" descr="plan-top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118" y="1325880"/>
            <a:ext cx="1959282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2080" y="146304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Front: two arched-window rooms — Window Lounge (8) + bookable Study (6)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Middle: main café floor (22) with banquette on the exposed brick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Bar sits on the existing kitchen plumbing stack — minimal new plumbing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Rear: full back-of-house — prep, ADA restroom, keg store, dry storage, receiving at the alley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•  42 seats keeps occupant load under 50 → Group B, not Assembly: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— no automatic sprinkler trigger for a second-floor space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— at ≤29 occupants, the existing single stair may legally suffice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— a code-compliant egress stair (~$10–30K) unlocks 30–49 if demand proves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Footprint per county parcel record; interior assumed — field verify. research/bentonville-permitting-zoning.md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CONCEPT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Section and street view</a:t>
            </a:r>
          </a:p>
        </p:txBody>
      </p:sp>
      <p:pic>
        <p:nvPicPr>
          <p:cNvPr id="5" name="Picture 4" descr="section-side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53223"/>
            <a:ext cx="6949440" cy="3683073"/>
          </a:xfrm>
          <a:prstGeom prst="rect">
            <a:avLst/>
          </a:prstGeom>
        </p:spPr>
      </p:pic>
      <p:pic>
        <p:nvPicPr>
          <p:cNvPr id="6" name="Picture 5" descr="elevation-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421018"/>
            <a:ext cx="4389120" cy="47474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Bookstore unchanged below; facade untouched except the blade sign (sign + encroachment permits)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CONCEPT RENDERINGS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What it feels like (AI concepts informed by the real listing photos)</a:t>
            </a:r>
          </a:p>
        </p:txBody>
      </p:sp>
      <p:pic>
        <p:nvPicPr>
          <p:cNvPr id="5" name="Picture 4" descr="mockup-cafe-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77390"/>
            <a:ext cx="2834640" cy="3543300"/>
          </a:xfrm>
          <a:prstGeom prst="rect">
            <a:avLst/>
          </a:prstGeom>
        </p:spPr>
      </p:pic>
      <p:pic>
        <p:nvPicPr>
          <p:cNvPr id="6" name="Picture 5" descr="mockup-late-night-lou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977390"/>
            <a:ext cx="2834640" cy="3543300"/>
          </a:xfrm>
          <a:prstGeom prst="rect">
            <a:avLst/>
          </a:prstGeom>
        </p:spPr>
      </p:pic>
      <p:pic>
        <p:nvPicPr>
          <p:cNvPr id="7" name="Picture 6" descr="render-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77390"/>
            <a:ext cx="2834640" cy="3543300"/>
          </a:xfrm>
          <a:prstGeom prst="rect">
            <a:avLst/>
          </a:prstGeom>
        </p:spPr>
      </p:pic>
      <p:pic>
        <p:nvPicPr>
          <p:cNvPr id="8" name="Picture 7" descr="render-stud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1977390"/>
            <a:ext cx="2834640" cy="3543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Mood boards, not architectural drawings — the plan/section carry the real 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CITY OF BENTONVILLE — VERIFIED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Zoning is already solved; two questions remain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•  Bentonville's NEW development code (effective May 14, 2026): "food and beverage" is a BY-RIGHT use on the square — no rezoning, no conditional use permit, ZERO parking minimums.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Process: Commercial Alteration Permit via eTrakit; ADH approval required first; free Business Registry. City permit fee for a $150K buildout: ~$730.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Question 1 — second-floor accessibility: the ADA elevator exemption (&lt;3 stories, &lt;3,000 sq ft/story) plausibly applies — DOJ's "shopping center" carve-out needs 5+ retail tenants; this building has two. Get it IN WRITING before any spend. Fallbacks: ground-floor pickup counter with the bookstore; platform lift $10–25K.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Question 2 — structure &amp; stairs: assembly floor loading is 100 psf vs 40 residential; the stair count caps occupancy. Both answered by a structural engineer + the free pre-application meeting.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 Health dept: plan review BEFORE construction (1% of cost, max $500), $35/yr permit, one ServSafe manager (~$150). Residential kitchens categorically barred — full conversion is required and budgeted.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•  Timeline: 4–7 months from architect engagement to opening.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Sources: research/bentonville-permitting-zoning.md, research/adh-food-permit-requirements.md — code sections cited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STARTUP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$170K lean — $350K full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Bucket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087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5087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938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Construction/conversion (NWA: $100–150/sq ft)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938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$90,000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92938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$150,000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Egress stair (only if &gt;29 seats)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5000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35000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$25,000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7063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Coffee equipment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70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$28,000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770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$55,000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9125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Mocktail / NA-draft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9125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$3,500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19125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$8,000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1187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Furniture + counter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7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$12,000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61187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$35,000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3250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Soft costs (architect, permits, signage, insurance)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3250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$8,000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03250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$20,000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5312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Opening inventory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4531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$3,000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4531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$8,000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7375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Working capital (3–6 months)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8737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$25,000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8737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$50,000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9437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29437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~$170,000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29437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~$350,000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155448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8B8B"/>
                </a:solidFill>
                <a:latin typeface="Calibri"/>
              </a:rPr>
              <a:t>The big levers: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Ventless menu — a $12–18K oven instead of a $20–55K Type I hood system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All permits combined: ~$1,300–1,500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1A2E"/>
                </a:solidFill>
                <a:latin typeface="Calibri"/>
              </a:rPr>
              <a:t>Industry range for a seated café: $80–300K (median $150–200K)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Sources: research/construction-conversion-costs.md, equipment-costs.md, soft-costs-furniture-opex.md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Break-even at 40–70 customers/day; benchmark shops do 150–300</a:t>
            </a:r>
          </a:p>
        </p:txBody>
      </p:sp>
      <p:pic>
        <p:nvPicPr>
          <p:cNvPr id="5" name="Picture 4" descr="fin-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127" y="1371600"/>
            <a:ext cx="9573265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15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A6A6A"/>
                </a:solidFill>
                <a:latin typeface="Calibri"/>
              </a:rPr>
              <a:t>Slow: $14.5K revenue/mo, +$1.2K net  ·  Base: $30.2K/mo, +$9.7K net  ·  Strong: $55.1K/mo, +$24.5K net — all after paying rent. Assumptions: $8.50–10.50 ticket (downtown verified $5–7 lattes, $8–14 mocktails), 30% COGS, NWA wages.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Model: cafe-purg/financials/ — every assumption sourced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THE MEMBERSHIP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A slow year, stress-tested</a:t>
            </a:r>
          </a:p>
        </p:txBody>
      </p:sp>
      <p:pic>
        <p:nvPicPr>
          <p:cNvPr id="5" name="Picture 4" descr="fin-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19" y="1371600"/>
            <a:ext cx="1026668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A6A6A"/>
                </a:solidFill>
                <a:latin typeface="Calibri"/>
              </a:rPr>
              <a:t>At just 60 transactions/day on the NWA tourism curve: without membership the café loses money 5 months of the year. With 100 members at $30/mo, it never does. Membership pricing is proven: Panera $15 — indie clubs $29 — Blank Street $45–90 — coworking $150.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All figures sourced — see cafe-purg/research/ in the project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RESEARCHED AGAINST THE ABC RULEBOOK DIRECTLY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The alcohol question, answered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•  The assumed legal wall does not exist: Arkansas has NO rule excluding under-21 customers from a permitted restaurant. Same room, same tables; staff 19+ may even serve beer/wine (not bartend).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The upgrade path is cheap and unobstructed: Benton County is wet; the 1,000-ft church/school rule applies only to package stores; this block already holds five permits; Restaurant Beer &amp; Wine = $350/yr; process 1–4 months; beer/wine exempt from mixed-drink taxes.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What staying dry costs: roughly $25–45K/yr in gross profit at base-case revenue.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2E8B8B"/>
                </a:solidFill>
                <a:latin typeface="Calibri"/>
              </a:rPr>
              <a:t>•  The decision: open zero-proof anyway.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An 18–21-branded venue pouring alcohol is a permanent compliance target (sale-to-minor cases dominate ABC's enforcement docket), the permit is discretionary and protestable — and the dry program is the only thing the licensed neighbors can't copy.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•  For Craig: the tenant is never structurally capped. If evening revenue justifies it, the $350 permit is exercisable in a single season.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Source: research/alcohol-option-abc.md — statute and rule citations throughout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VERIFIED PROGRAM-BY-PROGRAM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How it gets funded — a $250K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Founder + family equity (gift letters count for SBA)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8B8B"/>
                </a:solidFill>
                <a:latin typeface="Calibri"/>
              </a:rPr>
              <a:t>$60K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SBA 7(a) — Arkansas Capital Corporation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57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8B8B"/>
                </a:solidFill>
                <a:latin typeface="Calibri"/>
              </a:rPr>
              <a:t>$100K · 10yr · ~10–12%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CDFI microloan — FORGE / Communities Unlimited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8B8B"/>
                </a:solidFill>
                <a:latin typeface="Calibri"/>
              </a:rPr>
              <a:t>$35K · 6yr · 8–13%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Equipment financing (or folded into the 7(a))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0632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8B8B"/>
                </a:solidFill>
                <a:latin typeface="Calibri"/>
              </a:rPr>
              <a:t>$30K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6615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Kiva NWA — 0% interest, credit-blind, Walton-matched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661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8B8B"/>
                </a:solidFill>
                <a:latin typeface="Calibri"/>
              </a:rPr>
              <a:t>$15K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6907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Pre-sold memberships (deferred revenue — buzz, not equity)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0690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8B8B"/>
                </a:solidFill>
                <a:latin typeface="Calibri"/>
              </a:rPr>
              <a:t>$10K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548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The most powerful lever isn't a loan: Craig funding $25–75K of fixed buildout as landlord TI, amortized into a market-rate rent at ~7.5% — shrinks the loan before it's sized, earns him a return, and permanently raises his building's value.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6A6A6A"/>
                </a:solidFill>
                <a:latin typeface="Calibri"/>
              </a:rPr>
              <a:t>SBA's related-party rules don't apply (no SBA money touches the building). Needed: 10+ yr market-rate lease + standard landlord waiver. Free help lenders respect: ASBTDC, Startup Junkie, EforAll NWA.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Source: research/financing-grants.md — incl. what NOT to budget (WFF grants are nonprofit-only)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TERM SHEET DRAFTED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A lease that works for Craig, the SBA, and the café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Base rent $2,500/mo — documented market rate for second-floor walk-up space ($15.15/sq ft vs $25–36 ground floor). Abated during construction; 50% for the first 6 months.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Plus 4% of sales above $350K/yr — Craig shares the upside (~$1.2K base year, ~$8K strong year).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Plus TI amortization if Craig capitalizes shell work: $50K at 7.5%/10yr = +$594/mo.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•  All-in at base case ≈ $3,194/mo = ~$38K/yr to Craig — about what the Airbnb nets, with a 10-year contract, zero management, and his building improved.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10-year term + two 5-year tenant-only options (SBA requirement) · contingencies void the lease if the city requires an elevator or financing fails · year-3 kick-out if sales &lt; $200K · guarantee burns off with performance.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•  Use clause written broad enough to add beer/wine later without amendment.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Full draft: cafe-purg/lease-term-sheet.md — AR attorney review budgeted before signing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12-MONTH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Two kill-switch gates before construction money moves</a:t>
            </a:r>
          </a:p>
        </p:txBody>
      </p:sp>
      <p:pic>
        <p:nvPicPr>
          <p:cNvPr id="5" name="Picture 4" descr="timeline-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915" y="1325880"/>
            <a:ext cx="713368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6A6A6A"/>
                </a:solidFill>
                <a:latin typeface="Calibri"/>
              </a:rPr>
              <a:t>Gate 1: 75–100 paid founding members (pop-ups via licensed commissary — explicitly allowed by ADH). Gate 2: written city determinations on accessibility/egress/structure. Total at risk before Gate 2: ~$2–5K.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All figures sourced — see cafe-purg/research/ in the project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B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E8B8B"/>
                </a:solidFill>
                <a:latin typeface="Calibri"/>
              </a:rPr>
              <a:t>STATED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Risks and what we do about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City requires elevator or major structural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55448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B22222"/>
                </a:solidFill>
                <a:latin typeface="Calibri"/>
              </a:rPr>
              <a:t>HIGH — the go/no-go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5544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A6A6A"/>
                </a:solidFill>
                <a:latin typeface="Calibri"/>
              </a:rPr>
              <a:t>Written determination at the free pre-app, before any spend; lift fallback $10–25K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04288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18–21s don't convert to paying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0428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B22222"/>
                </a:solidFill>
                <a:latin typeface="Calibri"/>
              </a:rPr>
              <a:t>HIGH — comps say 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30428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A6A6A"/>
                </a:solidFill>
                <a:latin typeface="Calibri"/>
              </a:rPr>
              <a:t>Activity-venue positioning, priced room, and Gate 1: no members, no buildout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Single stair caps occupancy at 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54096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B22222"/>
                </a:solidFill>
                <a:latin typeface="Calibri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54096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A6A6A"/>
                </a:solidFill>
                <a:latin typeface="Calibri"/>
              </a:rPr>
              <a:t>Design to 29 first; add egress stair (~$10–30K) only when demand 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03904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Someone fills the night gap first (ex-Pressroom corner)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80390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B22222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80390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A6A6A"/>
                </a:solidFill>
                <a:latin typeface="Calibri"/>
              </a:rPr>
              <a:t>Speed: pop-ups build the audience before anyone builds a 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53712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Buildout overruns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55371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B22222"/>
                </a:solidFill>
                <a:latin typeface="Calibri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55371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A6A6A"/>
                </a:solidFill>
                <a:latin typeface="Calibri"/>
              </a:rPr>
              <a:t>Ventless menu locks out the worst overruns; landlord/tenant TI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0352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1A1A2E"/>
                </a:solidFill>
                <a:latin typeface="Calibri"/>
              </a:rPr>
              <a:t>Dec–Feb slump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53035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B22222"/>
                </a:solidFill>
                <a:latin typeface="Calibri"/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3035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A6A6A"/>
                </a:solidFill>
                <a:latin typeface="Calibri"/>
              </a:rPr>
              <a:t>Membership floor + finals-week and event programming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A1A2E"/>
                </a:solidFill>
                <a:latin typeface="Calibri"/>
              </a:rPr>
              <a:t>About half of independent cafés don't survive five years. The mitigations above are structural, not hopeful — and the pre-sale settles the demand argument for thousands, not hundreds of thousands.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A6A6A"/>
                </a:solidFill>
                <a:latin typeface="Calibri"/>
              </a:rPr>
              <a:t>All figures sourced — see cafe-purg/research/ in the project repo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A6A6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E0B94E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1.  Agreement in principle — take the loft off Airbnb if both gates clear.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2.  Two hours — the free conceptual meeting with Planning (479-271-3122) and the Fire Marshal (479-271-3108), together.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3.  A lease conversation after real construction bids exist — term sheet already drafted.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0B94E"/>
                </a:solidFill>
                <a:latin typeface="Calibri"/>
              </a:rPr>
              <a:t>Nothing is spent until the city answers in writing and 75–100 people have already paid.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BEBEBE"/>
                </a:solidFill>
                <a:latin typeface="Calibri"/>
              </a:rPr>
              <a:t>Full research repo: 13 sourced research files, financial model, drawings, term sheet.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